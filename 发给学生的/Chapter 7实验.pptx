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heme/theme2.xml" ContentType="application/vnd.openxmlformats-officedocument.theme+xml"/>
  <Override PartName="/ppt/tags/tag11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8"/>
  </p:notesMasterIdLst>
  <p:sldIdLst>
    <p:sldId id="256" r:id="rId2"/>
    <p:sldId id="1420" r:id="rId3"/>
    <p:sldId id="1437" r:id="rId4"/>
    <p:sldId id="1428" r:id="rId5"/>
    <p:sldId id="1436" r:id="rId6"/>
    <p:sldId id="1433" r:id="rId7"/>
  </p:sldIdLst>
  <p:sldSz cx="9144000" cy="5143500" type="screen16x9"/>
  <p:notesSz cx="7099300" cy="10234613"/>
  <p:custDataLst>
    <p:tags r:id="rId9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iang hong" initials="lh" lastIdx="2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20606"/>
    <a:srgbClr val="FF7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88723" autoAdjust="0"/>
  </p:normalViewPr>
  <p:slideViewPr>
    <p:cSldViewPr snapToGrid="0" snapToObjects="1">
      <p:cViewPr varScale="1">
        <p:scale>
          <a:sx n="134" d="100"/>
          <a:sy n="134" d="100"/>
        </p:scale>
        <p:origin x="93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tags" Target="tags/tag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1294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fld id="{BFBA33AE-CA3F-F648-AAC3-65A8382068F9}" type="datetimeFigureOut">
              <a:rPr kumimoji="1" lang="zh-CN" altLang="en-US" smtClean="0"/>
              <a:t>2025/12/4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09930" y="4925407"/>
            <a:ext cx="5679440" cy="4029879"/>
          </a:xfrm>
          <a:prstGeom prst="rect">
            <a:avLst/>
          </a:prstGeom>
        </p:spPr>
        <p:txBody>
          <a:bodyPr vert="horz" lIns="99048" tIns="49524" rIns="99048" bIns="49524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1294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fld id="{1D679F6D-7149-BC47-98CE-063D295B7BD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679F6D-7149-BC47-98CE-063D295B7BD3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679F6D-7149-BC47-98CE-063D295B7BD3}" type="slidenum">
              <a:rPr kumimoji="1" lang="zh-CN" altLang="en-US" smtClean="0"/>
              <a:t>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795033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13D3EA-87E9-8135-69FA-A59F1E511A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4D1048F-1835-6C3A-74BA-86853379BA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B9D5138-ACD9-B9AC-A139-D4A63ACDE4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4B0B7FA-1349-AC97-E312-E3509A3027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679F6D-7149-BC47-98CE-063D295B7BD3}" type="slidenum">
              <a:rPr kumimoji="1" lang="zh-CN" altLang="en-US" smtClean="0"/>
              <a:t>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642738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D8A513-0521-2936-3835-EEDB8905C8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9E1EDD1-BCC5-E826-F935-1111144E1D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B11F843-6D6B-357C-A9B5-AABEB7A8C5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DE4F39C-CD39-08EE-D9BA-48AC88E667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679F6D-7149-BC47-98CE-063D295B7BD3}" type="slidenum">
              <a:rPr kumimoji="1" lang="zh-CN" altLang="en-US" smtClean="0"/>
              <a:t>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439334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724D98-E5BC-4718-5D21-A75DF0A053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864010C-7566-B15B-5BA8-3C3ACF8F71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8A844CD-7F85-E948-FE65-261D2F03A9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347B7FA-3F57-0F38-C224-EAAF4750B2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679F6D-7149-BC47-98CE-063D295B7BD3}" type="slidenum">
              <a:rPr kumimoji="1" lang="zh-CN" altLang="en-US" smtClean="0"/>
              <a:t>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536576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B9352-14C2-6D1A-1F78-00C141453D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A6D19B7-2968-9029-0E37-A1EE5785ED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181C0B2-C814-83AE-0E0B-7439A12F60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A176023-8A46-CCE3-C8D0-2691BAEDDB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679F6D-7149-BC47-98CE-063D295B7BD3}" type="slidenum">
              <a:rPr kumimoji="1" lang="zh-CN" altLang="en-US" smtClean="0"/>
              <a:t>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264544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tags" Target="../tags/tag9.xml"/><Relationship Id="rId3" Type="http://schemas.openxmlformats.org/officeDocument/2006/relationships/tags" Target="../tags/tag4.xml"/><Relationship Id="rId7" Type="http://schemas.openxmlformats.org/officeDocument/2006/relationships/tags" Target="../tags/tag8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11" Type="http://schemas.openxmlformats.org/officeDocument/2006/relationships/image" Target="../media/image1.jpeg"/><Relationship Id="rId5" Type="http://schemas.openxmlformats.org/officeDocument/2006/relationships/tags" Target="../tags/tag6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5.xml"/><Relationship Id="rId9" Type="http://schemas.openxmlformats.org/officeDocument/2006/relationships/tags" Target="../tags/tag10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BE7C3-BA86-5149-B59B-08DE0E110647}" type="datetime1">
              <a:rPr kumimoji="1" lang="zh-CN" altLang="en-US" smtClean="0"/>
              <a:t>2025/12/4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zh-CN" altLang="en-US"/>
              <a:t>知识图谱概述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25BD4-2C18-3241-A107-B7FFDDC89A8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8BEAD6-3F78-DF47-BD01-926DB9725EF2}" type="datetime1">
              <a:rPr kumimoji="1" lang="zh-CN" altLang="en-US" smtClean="0"/>
              <a:t>2025/12/4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25BD4-2C18-3241-A107-B7FFDDC89A82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cxnSp>
        <p:nvCxnSpPr>
          <p:cNvPr id="8" name="直线连接符 7"/>
          <p:cNvCxnSpPr/>
          <p:nvPr userDrawn="1">
            <p:custDataLst>
              <p:tags r:id="rId1"/>
            </p:custDataLst>
          </p:nvPr>
        </p:nvCxnSpPr>
        <p:spPr>
          <a:xfrm>
            <a:off x="419696" y="808598"/>
            <a:ext cx="813315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矩形 8"/>
          <p:cNvSpPr/>
          <p:nvPr userDrawn="1">
            <p:custDataLst>
              <p:tags r:id="rId2"/>
            </p:custDataLst>
          </p:nvPr>
        </p:nvSpPr>
        <p:spPr>
          <a:xfrm>
            <a:off x="419695" y="753405"/>
            <a:ext cx="2908489" cy="10385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15">
              <a:latin typeface="+mn-ea"/>
            </a:endParaRPr>
          </a:p>
        </p:txBody>
      </p:sp>
      <p:sp>
        <p:nvSpPr>
          <p:cNvPr id="11" name="矩形 10"/>
          <p:cNvSpPr/>
          <p:nvPr userDrawn="1">
            <p:custDataLst>
              <p:tags r:id="rId3"/>
            </p:custDataLst>
          </p:nvPr>
        </p:nvSpPr>
        <p:spPr>
          <a:xfrm>
            <a:off x="1670150" y="1052779"/>
            <a:ext cx="1402080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万物联网</a:t>
            </a:r>
          </a:p>
        </p:txBody>
      </p:sp>
      <p:sp>
        <p:nvSpPr>
          <p:cNvPr id="12" name="矩形 11"/>
          <p:cNvSpPr/>
          <p:nvPr userDrawn="1">
            <p:custDataLst>
              <p:tags r:id="rId4"/>
            </p:custDataLst>
          </p:nvPr>
        </p:nvSpPr>
        <p:spPr>
          <a:xfrm>
            <a:off x="5908327" y="1052779"/>
            <a:ext cx="1402080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人人用网</a:t>
            </a:r>
          </a:p>
        </p:txBody>
      </p:sp>
      <p:sp>
        <p:nvSpPr>
          <p:cNvPr id="15" name="Rectangle 6"/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auto">
          <a:xfrm>
            <a:off x="3027680" y="990600"/>
            <a:ext cx="3006090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信息时代：以网络为核心</a:t>
            </a:r>
            <a:endParaRPr lang="fr-FR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矩形 18"/>
          <p:cNvSpPr/>
          <p:nvPr userDrawn="1">
            <p:custDataLst>
              <p:tags r:id="rId6"/>
            </p:custDataLst>
          </p:nvPr>
        </p:nvSpPr>
        <p:spPr>
          <a:xfrm>
            <a:off x="2157830" y="1425185"/>
            <a:ext cx="1198880" cy="39878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万物联网</a:t>
            </a:r>
          </a:p>
        </p:txBody>
      </p:sp>
      <p:sp>
        <p:nvSpPr>
          <p:cNvPr id="20" name="矩形 19"/>
          <p:cNvSpPr/>
          <p:nvPr userDrawn="1">
            <p:custDataLst>
              <p:tags r:id="rId7"/>
            </p:custDataLst>
          </p:nvPr>
        </p:nvSpPr>
        <p:spPr>
          <a:xfrm>
            <a:off x="5359690" y="1425185"/>
            <a:ext cx="1198880" cy="39878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人人用网</a:t>
            </a:r>
          </a:p>
        </p:txBody>
      </p:sp>
      <p:pic>
        <p:nvPicPr>
          <p:cNvPr id="100" name="图片 99"/>
          <p:cNvPicPr/>
          <p:nvPr userDrawn="1">
            <p:custDataLst>
              <p:tags r:id="rId8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8220710" y="36195"/>
            <a:ext cx="767080" cy="77216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7" name="Title 1"/>
          <p:cNvSpPr>
            <a:spLocks noGrp="1"/>
          </p:cNvSpPr>
          <p:nvPr>
            <p:ph type="title" hasCustomPrompt="1"/>
            <p:custDataLst>
              <p:tags r:id="rId9"/>
            </p:custDataLst>
          </p:nvPr>
        </p:nvSpPr>
        <p:spPr>
          <a:xfrm>
            <a:off x="369570" y="139700"/>
            <a:ext cx="7071995" cy="613410"/>
          </a:xfrm>
        </p:spPr>
        <p:txBody>
          <a:bodyPr/>
          <a:lstStyle>
            <a:lvl1pPr>
              <a:defRPr sz="24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/>
              <a:t>单击此处编辑母版标题样式</a:t>
            </a:r>
            <a:r>
              <a:rPr lang="en-US" altLang="zh-CN"/>
              <a:t>-3</a:t>
            </a:r>
            <a:endParaRPr lang="en-US" altLang="zh-CN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FF739-9652-F443-8C64-11B953ED86E6}" type="datetime1">
              <a:rPr kumimoji="1" lang="zh-CN" altLang="en-US" smtClean="0"/>
              <a:t>2025/12/4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zh-CN" altLang="en-US"/>
              <a:t>知识图谱概述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25BD4-2C18-3241-A107-B7FFDDC89A8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90E9B-69F4-1E45-A7A8-BFCAA45F17E1}" type="datetime1">
              <a:rPr kumimoji="1" lang="zh-CN" altLang="en-US" smtClean="0"/>
              <a:t>2025/12/4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zh-CN" altLang="en-US"/>
              <a:t>知识图谱概述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25BD4-2C18-3241-A107-B7FFDDC89A8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D3F7C-2C4F-944C-B510-8EA42FD489E9}" type="datetime1">
              <a:rPr kumimoji="1" lang="zh-CN" altLang="en-US" smtClean="0"/>
              <a:t>2025/12/4</a:t>
            </a:fld>
            <a:endParaRPr kumimoji="1"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zh-CN" altLang="en-US"/>
              <a:t>知识图谱概述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25BD4-2C18-3241-A107-B7FFDDC89A8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72B28-6B57-0346-B73B-618B6E377EEC}" type="datetime1">
              <a:rPr kumimoji="1" lang="zh-CN" altLang="en-US" smtClean="0"/>
              <a:t>2025/12/4</a:t>
            </a:fld>
            <a:endParaRPr kumimoji="1"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zh-CN" altLang="en-US"/>
              <a:t>知识图谱概述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25BD4-2C18-3241-A107-B7FFDDC89A8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2C429-BCA5-4044-B4A7-9A790DF49A5E}" type="datetime1">
              <a:rPr kumimoji="1" lang="zh-CN" altLang="en-US" smtClean="0"/>
              <a:t>2025/12/4</a:t>
            </a:fld>
            <a:endParaRPr kumimoji="1"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zh-CN" altLang="en-US"/>
              <a:t>知识图谱概述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25BD4-2C18-3241-A107-B7FFDDC89A8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37415-C93F-EA46-973D-DE316C563942}" type="datetime1">
              <a:rPr kumimoji="1" lang="zh-CN" altLang="en-US" smtClean="0"/>
              <a:t>2025/12/4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zh-CN" altLang="en-US"/>
              <a:t>知识图谱概述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25BD4-2C18-3241-A107-B7FFDDC89A8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BC70D-9776-584D-9E83-D4C1DE00E7E1}" type="datetime1">
              <a:rPr kumimoji="1" lang="zh-CN" altLang="en-US" smtClean="0"/>
              <a:t>2025/12/4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zh-CN" altLang="en-US"/>
              <a:t>知识图谱概述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25BD4-2C18-3241-A107-B7FFDDC89A8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17F6B-1185-8F45-B383-B7FDC294BBFB}" type="datetime1">
              <a:rPr kumimoji="1" lang="zh-CN" altLang="en-US" smtClean="0"/>
              <a:t>2025/12/4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zh-CN" altLang="en-US"/>
              <a:t>知识图谱概述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25BD4-2C18-3241-A107-B7FFDDC89A8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9C5DB-B60B-9C41-9504-17391A11988E}" type="datetime1">
              <a:rPr kumimoji="1" lang="zh-CN" altLang="en-US" smtClean="0"/>
              <a:t>2025/12/4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zh-CN" altLang="en-US"/>
              <a:t>知识图谱概述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25BD4-2C18-3241-A107-B7FFDDC89A8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A11608-044C-8848-BAB5-E6EAFF48003A}" type="datetime1">
              <a:rPr kumimoji="1" lang="zh-CN" altLang="en-US" smtClean="0"/>
              <a:t>2025/12/4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kumimoji="1" lang="zh-CN" altLang="en-US"/>
              <a:t>知识图谱概述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A25BD4-2C18-3241-A107-B7FFDDC89A8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1.xml"/><Relationship Id="rId4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756690" y="2362822"/>
            <a:ext cx="84270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zh-CN" altLang="en-US" sz="3600" b="1" i="0" dirty="0">
                <a:solidFill>
                  <a:srgbClr val="222226"/>
                </a:solidFill>
                <a:effectLst/>
                <a:latin typeface="PingFang SC"/>
              </a:rPr>
              <a:t>实验</a:t>
            </a:r>
            <a:r>
              <a:rPr lang="en-US" altLang="zh-CN" sz="3600" b="1" i="0" dirty="0">
                <a:solidFill>
                  <a:srgbClr val="222226"/>
                </a:solidFill>
                <a:effectLst/>
                <a:latin typeface="PingFang SC"/>
              </a:rPr>
              <a:t>6</a:t>
            </a:r>
            <a:r>
              <a:rPr lang="zh-CN" altLang="en-US" sz="3600" b="1" i="0" dirty="0">
                <a:solidFill>
                  <a:srgbClr val="222226"/>
                </a:solidFill>
                <a:effectLst/>
                <a:latin typeface="PingFang SC"/>
              </a:rPr>
              <a:t>：知识图谱实践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3169227" y="3519870"/>
            <a:ext cx="3007329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dirty="0">
                <a:latin typeface="Apple Chancery" panose="03020702040506060504" pitchFamily="66" charset="-79"/>
                <a:ea typeface="报隶-简" panose="02010600040101010101" pitchFamily="2" charset="-122"/>
                <a:cs typeface="Apple Chancery" panose="03020702040506060504" pitchFamily="66" charset="-79"/>
              </a:rPr>
              <a:t>李文杰</a:t>
            </a:r>
            <a:endParaRPr kumimoji="1" lang="en-US" altLang="zh-CN" dirty="0">
              <a:latin typeface="Apple Chancery" panose="03020702040506060504" pitchFamily="66" charset="-79"/>
              <a:ea typeface="报隶-简" panose="02010600040101010101" pitchFamily="2" charset="-122"/>
              <a:cs typeface="Apple Chancery" panose="03020702040506060504" pitchFamily="66" charset="-79"/>
            </a:endParaRPr>
          </a:p>
          <a:p>
            <a:pPr algn="ctr"/>
            <a:r>
              <a:rPr kumimoji="1" lang="zh-CN" dirty="0">
                <a:latin typeface="Apple Chancery" panose="03020702040506060504" pitchFamily="66" charset="-79"/>
                <a:ea typeface="报隶-简" panose="02010600040101010101" pitchFamily="2" charset="-122"/>
                <a:cs typeface="Apple Chancery" panose="03020702040506060504" pitchFamily="66" charset="-79"/>
              </a:rPr>
              <a:t>电子信息学院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3856095" y="4284843"/>
            <a:ext cx="18830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i="1" u="sng" dirty="0">
                <a:solidFill>
                  <a:schemeClr val="accent1"/>
                </a:solidFill>
              </a:rPr>
              <a:t>liwenjiehn@pku.edu.cn</a:t>
            </a:r>
            <a:endParaRPr kumimoji="1" lang="zh-CN" altLang="en-US" sz="1400" i="1" u="sng" dirty="0">
              <a:solidFill>
                <a:schemeClr val="accent1"/>
              </a:solidFill>
            </a:endParaRPr>
          </a:p>
        </p:txBody>
      </p:sp>
      <p:cxnSp>
        <p:nvCxnSpPr>
          <p:cNvPr id="20" name="直线连接符 19"/>
          <p:cNvCxnSpPr/>
          <p:nvPr/>
        </p:nvCxnSpPr>
        <p:spPr>
          <a:xfrm>
            <a:off x="756690" y="3128966"/>
            <a:ext cx="7768063" cy="0"/>
          </a:xfrm>
          <a:prstGeom prst="line">
            <a:avLst/>
          </a:prstGeom>
          <a:ln>
            <a:solidFill>
              <a:schemeClr val="dk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00" name="图片 99"/>
          <p:cNvPicPr/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3933734" y="173718"/>
            <a:ext cx="1128123" cy="1130572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实验简介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64FBC6F-6D54-2385-6177-55212F2966C4}"/>
              </a:ext>
            </a:extLst>
          </p:cNvPr>
          <p:cNvSpPr txBox="1"/>
          <p:nvPr/>
        </p:nvSpPr>
        <p:spPr>
          <a:xfrm>
            <a:off x="302028" y="852301"/>
            <a:ext cx="8786553" cy="33153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ts val="3200"/>
              </a:lnSpc>
              <a:spcBef>
                <a:spcPts val="0"/>
              </a:spcBef>
              <a:spcAft>
                <a:spcPct val="0"/>
              </a:spcAft>
              <a:buClr>
                <a:srgbClr val="0066CC"/>
              </a:buClr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实验目的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  <a:p>
            <a:pPr marL="800100" lvl="1" indent="-342900" defTabSz="914400">
              <a:lnSpc>
                <a:spcPts val="3200"/>
              </a:lnSpc>
              <a:spcAft>
                <a:spcPct val="0"/>
              </a:spcAft>
              <a:buClr>
                <a:srgbClr val="0066CC"/>
              </a:buClr>
              <a:buFont typeface="Wingdings" panose="05000000000000000000" pitchFamily="2" charset="2"/>
              <a:buChar char="l"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掌握知识图谱构建、存储和应用方法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  <a:p>
            <a:pPr marL="342900" indent="-342900" defTabSz="914400">
              <a:lnSpc>
                <a:spcPts val="3200"/>
              </a:lnSpc>
              <a:spcAft>
                <a:spcPct val="0"/>
              </a:spcAft>
              <a:buClr>
                <a:srgbClr val="0066CC"/>
              </a:buClr>
              <a:buFont typeface="Wingdings" panose="05000000000000000000" pitchFamily="2" charset="2"/>
              <a:buChar char="l"/>
              <a:defRPr/>
            </a:pPr>
            <a:r>
              <a:rPr lang="zh-CN" altLang="en-US" sz="1400" b="1" dirty="0">
                <a:solidFill>
                  <a:sysClr val="windowText" lastClr="000000"/>
                </a:solidFill>
                <a:latin typeface="微软雅黑" pitchFamily="34" charset="-122"/>
                <a:ea typeface="微软雅黑" pitchFamily="34" charset="-122"/>
              </a:rPr>
              <a:t>实验要求</a:t>
            </a:r>
            <a:endParaRPr lang="en-US" altLang="zh-CN" sz="1400" b="1" dirty="0">
              <a:solidFill>
                <a:sysClr val="windowText" lastClr="000000"/>
              </a:solidFill>
              <a:latin typeface="微软雅黑" pitchFamily="34" charset="-122"/>
              <a:ea typeface="微软雅黑" pitchFamily="34" charset="-122"/>
            </a:endParaRPr>
          </a:p>
          <a:p>
            <a:pPr marL="800100" lvl="1" indent="-342900" defTabSz="914400">
              <a:lnSpc>
                <a:spcPts val="3200"/>
              </a:lnSpc>
              <a:spcAft>
                <a:spcPct val="0"/>
              </a:spcAft>
              <a:buClr>
                <a:srgbClr val="0066CC"/>
              </a:buClr>
              <a:buFont typeface="Wingdings" panose="05000000000000000000" pitchFamily="2" charset="2"/>
              <a:buChar char="l"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对知识图谱基本概念、</a:t>
            </a:r>
            <a:r>
              <a:rPr lang="en-US" altLang="zh-CN" sz="1400" b="1" dirty="0">
                <a:solidFill>
                  <a:sysClr val="windowText" lastClr="000000"/>
                </a:solidFill>
                <a:latin typeface="微软雅黑" pitchFamily="34" charset="-122"/>
                <a:ea typeface="微软雅黑" pitchFamily="34" charset="-122"/>
              </a:rPr>
              <a:t>RDF</a:t>
            </a:r>
            <a:r>
              <a:rPr lang="zh-CN" altLang="en-US" sz="1400" b="1" dirty="0">
                <a:solidFill>
                  <a:sysClr val="windowText" lastClr="000000"/>
                </a:solidFill>
                <a:latin typeface="微软雅黑" pitchFamily="34" charset="-122"/>
                <a:ea typeface="微软雅黑" pitchFamily="34" charset="-122"/>
              </a:rPr>
              <a:t>数据格式、</a:t>
            </a:r>
            <a:r>
              <a:rPr lang="en-US" altLang="zh-CN" sz="1400" b="1" dirty="0">
                <a:solidFill>
                  <a:sysClr val="windowText" lastClr="000000"/>
                </a:solidFill>
                <a:latin typeface="微软雅黑" pitchFamily="34" charset="-122"/>
                <a:ea typeface="微软雅黑" pitchFamily="34" charset="-122"/>
              </a:rPr>
              <a:t>SPARQL</a:t>
            </a:r>
            <a:r>
              <a:rPr lang="zh-CN" altLang="en-US" sz="1400" b="1" dirty="0">
                <a:solidFill>
                  <a:sysClr val="windowText" lastClr="000000"/>
                </a:solidFill>
                <a:latin typeface="微软雅黑" pitchFamily="34" charset="-122"/>
                <a:ea typeface="微软雅黑" pitchFamily="34" charset="-122"/>
              </a:rPr>
              <a:t>查询语句有一定的了解</a:t>
            </a:r>
            <a:endParaRPr lang="en-US" altLang="zh-CN" sz="1400" b="1" dirty="0">
              <a:solidFill>
                <a:sysClr val="windowText" lastClr="000000"/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 defTabSz="914400">
              <a:lnSpc>
                <a:spcPts val="3200"/>
              </a:lnSpc>
              <a:spcAft>
                <a:spcPct val="0"/>
              </a:spcAft>
              <a:buClr>
                <a:srgbClr val="0066CC"/>
              </a:buClr>
              <a:buFont typeface="Wingdings" panose="05000000000000000000" pitchFamily="2" charset="2"/>
              <a:buChar char="l"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实验内容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  <a:p>
            <a:pPr marL="800100" lvl="1" indent="-342900" defTabSz="914400">
              <a:lnSpc>
                <a:spcPts val="3200"/>
              </a:lnSpc>
              <a:spcAft>
                <a:spcPct val="0"/>
              </a:spcAft>
              <a:buClr>
                <a:srgbClr val="0066CC"/>
              </a:buClr>
              <a:buFont typeface="Wingdings" panose="05000000000000000000" pitchFamily="2" charset="2"/>
              <a:buChar char="l"/>
              <a:defRPr/>
            </a:pPr>
            <a:r>
              <a:rPr lang="zh-CN" altLang="en-US" sz="1400" b="1" dirty="0">
                <a:solidFill>
                  <a:sysClr val="windowText" lastClr="000000"/>
                </a:solidFill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sz="1400" b="1" dirty="0">
                <a:solidFill>
                  <a:sysClr val="windowText" lastClr="000000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1400" b="1" dirty="0">
                <a:solidFill>
                  <a:sysClr val="windowText" lastClr="000000"/>
                </a:solidFill>
                <a:latin typeface="微软雅黑" pitchFamily="34" charset="-122"/>
                <a:ea typeface="微软雅黑" pitchFamily="34" charset="-122"/>
              </a:rPr>
              <a:t>）根据已有数据构建知识图谱</a:t>
            </a:r>
            <a:endParaRPr lang="en-US" altLang="zh-CN" sz="1400" b="1" dirty="0">
              <a:solidFill>
                <a:sysClr val="windowText" lastClr="000000"/>
              </a:solidFill>
              <a:latin typeface="微软雅黑" pitchFamily="34" charset="-122"/>
              <a:ea typeface="微软雅黑" pitchFamily="34" charset="-122"/>
            </a:endParaRPr>
          </a:p>
          <a:p>
            <a:pPr marL="800100" lvl="1" indent="-342900" defTabSz="914400">
              <a:lnSpc>
                <a:spcPts val="3200"/>
              </a:lnSpc>
              <a:spcAft>
                <a:spcPct val="0"/>
              </a:spcAft>
              <a:buClr>
                <a:srgbClr val="0066CC"/>
              </a:buClr>
              <a:buFont typeface="Wingdings" panose="05000000000000000000" pitchFamily="2" charset="2"/>
              <a:buChar char="l"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（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2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）在已有知识图谱的上进行路径查询与分析</a:t>
            </a:r>
          </a:p>
          <a:p>
            <a:pPr marL="342900" marR="0" lvl="0" indent="-342900" algn="l" defTabSz="914400" rtl="0" eaLnBrk="1" fontAlgn="auto" latinLnBrk="0" hangingPunct="1">
              <a:lnSpc>
                <a:spcPts val="3200"/>
              </a:lnSpc>
              <a:spcBef>
                <a:spcPts val="0"/>
              </a:spcBef>
              <a:spcAft>
                <a:spcPct val="0"/>
              </a:spcAft>
              <a:buClr>
                <a:srgbClr val="0066CC"/>
              </a:buClr>
              <a:buSzTx/>
              <a:buFont typeface="Wingdings" panose="05000000000000000000" pitchFamily="2" charset="2"/>
              <a:buChar char="l"/>
              <a:tabLst/>
              <a:defRPr/>
            </a:pP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148934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9E4773-8E63-D861-2D1A-FB0B22164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>
            <a:extLst>
              <a:ext uri="{FF2B5EF4-FFF2-40B4-BE49-F238E27FC236}">
                <a16:creationId xmlns:a16="http://schemas.microsoft.com/office/drawing/2014/main" id="{42E819D4-2E4B-8157-1428-F694382214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实验数据：明朝历史数据集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18BDD41-DCCA-0F2A-E10B-0FC00FEFA2E2}"/>
              </a:ext>
            </a:extLst>
          </p:cNvPr>
          <p:cNvSpPr txBox="1"/>
          <p:nvPr/>
        </p:nvSpPr>
        <p:spPr>
          <a:xfrm>
            <a:off x="302028" y="852301"/>
            <a:ext cx="8786553" cy="41361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defTabSz="914400">
              <a:lnSpc>
                <a:spcPts val="3200"/>
              </a:lnSpc>
              <a:spcAft>
                <a:spcPct val="0"/>
              </a:spcAft>
              <a:buClr>
                <a:srgbClr val="0066CC"/>
              </a:buClr>
              <a:buFont typeface="Wingdings" panose="05000000000000000000" pitchFamily="2" charset="2"/>
              <a:buChar char="l"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实体类型数据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  <a:p>
            <a:pPr marL="800100" lvl="1" indent="-342900" defTabSz="914400">
              <a:lnSpc>
                <a:spcPts val="3200"/>
              </a:lnSpc>
              <a:spcAft>
                <a:spcPct val="0"/>
              </a:spcAft>
              <a:buClr>
                <a:srgbClr val="0066CC"/>
              </a:buClr>
              <a:buFont typeface="Wingdings" panose="05000000000000000000" pitchFamily="2" charset="2"/>
              <a:buChar char="l"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["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作品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", "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法律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", "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历史人物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", "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战争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", "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历史事件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", "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其它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", "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权力机构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", "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地点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", "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历史时期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", "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权力机关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"]</a:t>
            </a:r>
          </a:p>
          <a:p>
            <a:pPr marL="800100" lvl="1" indent="-342900" defTabSz="914400">
              <a:lnSpc>
                <a:spcPts val="3200"/>
              </a:lnSpc>
              <a:spcAft>
                <a:spcPct val="0"/>
              </a:spcAft>
              <a:buClr>
                <a:srgbClr val="0066CC"/>
              </a:buClr>
              <a:buFont typeface="Wingdings" panose="05000000000000000000" pitchFamily="2" charset="2"/>
              <a:buChar char="l"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详见 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data/</a:t>
            </a:r>
            <a:r>
              <a:rPr kumimoji="0" lang="en-US" altLang="zh-CN" sz="1400" b="1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allType.json</a:t>
            </a:r>
            <a:endParaRPr lang="en-US" altLang="zh-CN" sz="1400" b="1" dirty="0">
              <a:solidFill>
                <a:sysClr val="windowText" lastClr="000000"/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 defTabSz="914400">
              <a:lnSpc>
                <a:spcPts val="3200"/>
              </a:lnSpc>
              <a:spcAft>
                <a:spcPct val="0"/>
              </a:spcAft>
              <a:buClr>
                <a:srgbClr val="0066CC"/>
              </a:buClr>
              <a:buFont typeface="Wingdings" panose="05000000000000000000" pitchFamily="2" charset="2"/>
              <a:buChar char="l"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实体数据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  <a:p>
            <a:pPr marL="800100" lvl="1" indent="-342900" defTabSz="914400">
              <a:lnSpc>
                <a:spcPts val="3200"/>
              </a:lnSpc>
              <a:spcAft>
                <a:spcPct val="0"/>
              </a:spcAft>
              <a:buClr>
                <a:srgbClr val="0066CC"/>
              </a:buClr>
              <a:buFont typeface="Wingdings" panose="05000000000000000000" pitchFamily="2" charset="2"/>
              <a:buChar char="l"/>
              <a:defRPr/>
            </a:pPr>
            <a:r>
              <a:rPr lang="zh-CN" altLang="en-US" sz="1400" b="1" dirty="0">
                <a:solidFill>
                  <a:sysClr val="windowText" lastClr="000000"/>
                </a:solidFill>
                <a:latin typeface="微软雅黑" pitchFamily="34" charset="-122"/>
                <a:ea typeface="微软雅黑" pitchFamily="34" charset="-122"/>
              </a:rPr>
              <a:t>详见 </a:t>
            </a:r>
            <a:r>
              <a:rPr lang="en-US" altLang="zh-CN" sz="1400" b="1" dirty="0">
                <a:solidFill>
                  <a:sysClr val="windowText" lastClr="000000"/>
                </a:solidFill>
                <a:latin typeface="微软雅黑" pitchFamily="34" charset="-122"/>
                <a:ea typeface="微软雅黑" pitchFamily="34" charset="-122"/>
              </a:rPr>
              <a:t>data/</a:t>
            </a:r>
            <a:r>
              <a:rPr lang="en-US" altLang="zh-CN" sz="1400" b="1" dirty="0" err="1">
                <a:solidFill>
                  <a:sysClr val="windowText" lastClr="000000"/>
                </a:solidFill>
                <a:latin typeface="微软雅黑" pitchFamily="34" charset="-122"/>
                <a:ea typeface="微软雅黑" pitchFamily="34" charset="-122"/>
              </a:rPr>
              <a:t>allItem.json</a:t>
            </a:r>
            <a:endParaRPr lang="en-US" altLang="zh-CN" sz="1400" b="1" dirty="0">
              <a:solidFill>
                <a:sysClr val="windowText" lastClr="000000"/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 defTabSz="914400">
              <a:lnSpc>
                <a:spcPts val="3200"/>
              </a:lnSpc>
              <a:spcAft>
                <a:spcPct val="0"/>
              </a:spcAft>
              <a:buClr>
                <a:srgbClr val="0066CC"/>
              </a:buClr>
              <a:buFont typeface="Wingdings" panose="05000000000000000000" pitchFamily="2" charset="2"/>
              <a:buChar char="l"/>
              <a:defRPr/>
            </a:pPr>
            <a:r>
              <a:rPr lang="zh-CN" altLang="en-US" sz="1400" b="1" dirty="0">
                <a:solidFill>
                  <a:sysClr val="windowText" lastClr="000000"/>
                </a:solidFill>
                <a:latin typeface="微软雅黑" pitchFamily="34" charset="-122"/>
                <a:ea typeface="微软雅黑" pitchFamily="34" charset="-122"/>
              </a:rPr>
              <a:t>关系类型数据</a:t>
            </a:r>
            <a:endParaRPr lang="en-US" altLang="zh-CN" sz="1400" b="1" dirty="0">
              <a:solidFill>
                <a:sysClr val="windowText" lastClr="000000"/>
              </a:solidFill>
              <a:latin typeface="微软雅黑" pitchFamily="34" charset="-122"/>
              <a:ea typeface="微软雅黑" pitchFamily="34" charset="-122"/>
            </a:endParaRPr>
          </a:p>
          <a:p>
            <a:pPr marL="800100" lvl="1" indent="-342900" defTabSz="914400">
              <a:lnSpc>
                <a:spcPts val="3200"/>
              </a:lnSpc>
              <a:spcAft>
                <a:spcPct val="0"/>
              </a:spcAft>
              <a:buClr>
                <a:srgbClr val="0066CC"/>
              </a:buClr>
              <a:buFont typeface="Wingdings" panose="05000000000000000000" pitchFamily="2" charset="2"/>
              <a:buChar char="l"/>
              <a:defRPr/>
            </a:pPr>
            <a:r>
              <a:rPr lang="zh-CN" altLang="en-US" sz="1400" b="1" dirty="0">
                <a:solidFill>
                  <a:sysClr val="windowText" lastClr="000000"/>
                </a:solidFill>
                <a:latin typeface="微软雅黑" pitchFamily="34" charset="-122"/>
                <a:ea typeface="微软雅黑" pitchFamily="34" charset="-122"/>
              </a:rPr>
              <a:t>详见 </a:t>
            </a:r>
            <a:r>
              <a:rPr lang="en-US" altLang="zh-CN" sz="1400" b="1" dirty="0">
                <a:solidFill>
                  <a:sysClr val="windowText" lastClr="000000"/>
                </a:solidFill>
                <a:latin typeface="微软雅黑" pitchFamily="34" charset="-122"/>
                <a:ea typeface="微软雅黑" pitchFamily="34" charset="-122"/>
              </a:rPr>
              <a:t>data/allRelationship2.json</a:t>
            </a:r>
          </a:p>
          <a:p>
            <a:pPr marL="342900" indent="-342900" defTabSz="914400">
              <a:lnSpc>
                <a:spcPts val="3200"/>
              </a:lnSpc>
              <a:spcAft>
                <a:spcPct val="0"/>
              </a:spcAft>
              <a:buClr>
                <a:srgbClr val="0066CC"/>
              </a:buClr>
              <a:buFont typeface="Wingdings" panose="05000000000000000000" pitchFamily="2" charset="2"/>
              <a:buChar char="l"/>
              <a:defRPr/>
            </a:pPr>
            <a:r>
              <a:rPr lang="zh-CN" altLang="en-US" sz="1400" b="1" dirty="0">
                <a:solidFill>
                  <a:sysClr val="windowText" lastClr="000000"/>
                </a:solidFill>
                <a:latin typeface="微软雅黑" pitchFamily="34" charset="-122"/>
                <a:ea typeface="微软雅黑" pitchFamily="34" charset="-122"/>
              </a:rPr>
              <a:t>关系数据</a:t>
            </a:r>
            <a:endParaRPr lang="en-US" altLang="zh-CN" sz="1400" b="1" dirty="0">
              <a:solidFill>
                <a:sysClr val="windowText" lastClr="000000"/>
              </a:solidFill>
              <a:latin typeface="微软雅黑" pitchFamily="34" charset="-122"/>
              <a:ea typeface="微软雅黑" pitchFamily="34" charset="-122"/>
            </a:endParaRPr>
          </a:p>
          <a:p>
            <a:pPr marL="800100" lvl="1" indent="-342900" defTabSz="914400">
              <a:lnSpc>
                <a:spcPts val="3200"/>
              </a:lnSpc>
              <a:spcAft>
                <a:spcPct val="0"/>
              </a:spcAft>
              <a:buClr>
                <a:srgbClr val="0066CC"/>
              </a:buClr>
              <a:buFont typeface="Wingdings" panose="05000000000000000000" pitchFamily="2" charset="2"/>
              <a:buChar char="l"/>
              <a:defRPr/>
            </a:pPr>
            <a:r>
              <a:rPr lang="zh-CN" altLang="en-US" sz="1400" b="1" dirty="0">
                <a:solidFill>
                  <a:sysClr val="windowText" lastClr="000000"/>
                </a:solidFill>
                <a:latin typeface="微软雅黑" pitchFamily="34" charset="-122"/>
                <a:ea typeface="微软雅黑" pitchFamily="34" charset="-122"/>
              </a:rPr>
              <a:t>详见 </a:t>
            </a:r>
            <a:r>
              <a:rPr lang="en-US" altLang="zh-CN" sz="1400" b="1" dirty="0">
                <a:solidFill>
                  <a:sysClr val="windowText" lastClr="000000"/>
                </a:solidFill>
                <a:latin typeface="微软雅黑" pitchFamily="34" charset="-122"/>
                <a:ea typeface="微软雅黑" pitchFamily="34" charset="-122"/>
              </a:rPr>
              <a:t>data/</a:t>
            </a:r>
            <a:r>
              <a:rPr lang="en-US" altLang="zh-CN" sz="1400" b="1" dirty="0" err="1">
                <a:solidFill>
                  <a:sysClr val="windowText" lastClr="000000"/>
                </a:solidFill>
                <a:latin typeface="微软雅黑" pitchFamily="34" charset="-122"/>
                <a:ea typeface="微软雅黑" pitchFamily="34" charset="-122"/>
              </a:rPr>
              <a:t>relationship.json</a:t>
            </a:r>
            <a:endParaRPr lang="en-US" altLang="zh-CN" sz="1400" b="1" dirty="0">
              <a:solidFill>
                <a:sysClr val="windowText" lastClr="00000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328703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57BEFF-1D39-9FDF-7078-ABCE4289AF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>
            <a:extLst>
              <a:ext uri="{FF2B5EF4-FFF2-40B4-BE49-F238E27FC236}">
                <a16:creationId xmlns:a16="http://schemas.microsoft.com/office/drawing/2014/main" id="{2D68500A-6F43-BAB6-EFED-6AFBF9BC23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实验步骤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13CA050-D506-7230-2813-6684DA269688}"/>
              </a:ext>
            </a:extLst>
          </p:cNvPr>
          <p:cNvSpPr txBox="1"/>
          <p:nvPr/>
        </p:nvSpPr>
        <p:spPr>
          <a:xfrm>
            <a:off x="249020" y="852301"/>
            <a:ext cx="8786553" cy="37257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ts val="3200"/>
              </a:lnSpc>
              <a:spcBef>
                <a:spcPts val="0"/>
              </a:spcBef>
              <a:spcAft>
                <a:spcPct val="0"/>
              </a:spcAft>
              <a:buClr>
                <a:srgbClr val="0066CC"/>
              </a:buClr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lang="en-US" altLang="zh-CN" sz="1400" b="1" dirty="0">
                <a:solidFill>
                  <a:sysClr val="windowText" lastClr="000000"/>
                </a:solidFill>
                <a:latin typeface="微软雅黑" pitchFamily="34" charset="-122"/>
                <a:ea typeface="微软雅黑" pitchFamily="34" charset="-122"/>
              </a:rPr>
              <a:t>1. </a:t>
            </a:r>
            <a:r>
              <a:rPr lang="zh-CN" altLang="en-US" sz="1400" b="1" dirty="0">
                <a:solidFill>
                  <a:sysClr val="windowText" lastClr="000000"/>
                </a:solidFill>
                <a:latin typeface="微软雅黑" pitchFamily="34" charset="-122"/>
                <a:ea typeface="微软雅黑" pitchFamily="34" charset="-122"/>
              </a:rPr>
              <a:t>分析数据</a:t>
            </a:r>
            <a:endParaRPr lang="en-US" altLang="zh-CN" sz="1400" b="1" dirty="0">
              <a:solidFill>
                <a:sysClr val="windowText" lastClr="000000"/>
              </a:solidFill>
              <a:latin typeface="微软雅黑" pitchFamily="34" charset="-122"/>
              <a:ea typeface="微软雅黑" pitchFamily="34" charset="-122"/>
            </a:endParaRPr>
          </a:p>
          <a:p>
            <a:pPr marL="800100" lvl="1" indent="-342900" defTabSz="914400">
              <a:lnSpc>
                <a:spcPts val="3200"/>
              </a:lnSpc>
              <a:spcAft>
                <a:spcPct val="0"/>
              </a:spcAft>
              <a:buClr>
                <a:srgbClr val="0066CC"/>
              </a:buClr>
              <a:buFont typeface="Wingdings" panose="05000000000000000000" pitchFamily="2" charset="2"/>
              <a:buChar char="l"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确定实体、属性和关系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  <a:p>
            <a:pPr marL="800100" lvl="1" indent="-342900" defTabSz="914400">
              <a:lnSpc>
                <a:spcPts val="3200"/>
              </a:lnSpc>
              <a:spcAft>
                <a:spcPct val="0"/>
              </a:spcAft>
              <a:buClr>
                <a:srgbClr val="0066CC"/>
              </a:buClr>
              <a:buFont typeface="Wingdings" panose="05000000000000000000" pitchFamily="2" charset="2"/>
              <a:buChar char="l"/>
              <a:defRPr/>
            </a:pPr>
            <a:r>
              <a:rPr lang="zh-CN" altLang="en-US" sz="1400" b="1" dirty="0">
                <a:solidFill>
                  <a:sysClr val="windowText" lastClr="000000"/>
                </a:solidFill>
                <a:latin typeface="微软雅黑" pitchFamily="34" charset="-122"/>
                <a:ea typeface="微软雅黑" pitchFamily="34" charset="-122"/>
              </a:rPr>
              <a:t>可以考虑将根据实体类型和关系数据，封装成</a:t>
            </a:r>
            <a:r>
              <a:rPr lang="en-US" altLang="zh-CN" sz="1400" b="1" dirty="0">
                <a:solidFill>
                  <a:sysClr val="windowText" lastClr="000000"/>
                </a:solidFill>
                <a:latin typeface="微软雅黑" pitchFamily="34" charset="-122"/>
                <a:ea typeface="微软雅黑" pitchFamily="34" charset="-122"/>
              </a:rPr>
              <a:t>schema</a:t>
            </a:r>
            <a:r>
              <a:rPr lang="zh-CN" altLang="en-US" sz="1400" b="1" dirty="0">
                <a:solidFill>
                  <a:sysClr val="windowText" lastClr="000000"/>
                </a:solidFill>
                <a:latin typeface="微软雅黑" pitchFamily="34" charset="-122"/>
                <a:ea typeface="微软雅黑" pitchFamily="34" charset="-122"/>
              </a:rPr>
              <a:t>文件（可选项）</a:t>
            </a:r>
            <a:endParaRPr lang="en-US" altLang="zh-CN" sz="1400" b="1" dirty="0">
              <a:solidFill>
                <a:sysClr val="windowText" lastClr="000000"/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 defTabSz="914400">
              <a:lnSpc>
                <a:spcPts val="3200"/>
              </a:lnSpc>
              <a:spcAft>
                <a:spcPct val="0"/>
              </a:spcAft>
              <a:buClr>
                <a:srgbClr val="0066CC"/>
              </a:buClr>
              <a:buFont typeface="Wingdings" panose="05000000000000000000" pitchFamily="2" charset="2"/>
              <a:buChar char="l"/>
              <a:defRPr/>
            </a:pPr>
            <a:r>
              <a:rPr lang="en-US" altLang="zh-CN" sz="1400" b="1" dirty="0">
                <a:solidFill>
                  <a:sysClr val="windowText" lastClr="000000"/>
                </a:solidFill>
                <a:latin typeface="微软雅黑" pitchFamily="34" charset="-122"/>
                <a:ea typeface="微软雅黑" pitchFamily="34" charset="-122"/>
              </a:rPr>
              <a:t>2. </a:t>
            </a:r>
            <a:r>
              <a:rPr lang="zh-CN" altLang="en-US" sz="1400" b="1" dirty="0">
                <a:solidFill>
                  <a:sysClr val="windowText" lastClr="000000"/>
                </a:solidFill>
                <a:latin typeface="微软雅黑" pitchFamily="34" charset="-122"/>
                <a:ea typeface="微软雅黑" pitchFamily="34" charset="-122"/>
              </a:rPr>
              <a:t>编写</a:t>
            </a:r>
            <a:r>
              <a:rPr lang="en-US" altLang="zh-CN" sz="1400" b="1" dirty="0">
                <a:solidFill>
                  <a:sysClr val="windowText" lastClr="000000"/>
                </a:solidFill>
                <a:latin typeface="微软雅黑" pitchFamily="34" charset="-122"/>
                <a:ea typeface="微软雅黑" pitchFamily="34" charset="-122"/>
              </a:rPr>
              <a:t>Python</a:t>
            </a:r>
            <a:r>
              <a:rPr lang="zh-CN" altLang="en-US" sz="1400" b="1" dirty="0">
                <a:solidFill>
                  <a:sysClr val="windowText" lastClr="000000"/>
                </a:solidFill>
                <a:latin typeface="微软雅黑" pitchFamily="34" charset="-122"/>
                <a:ea typeface="微软雅黑" pitchFamily="34" charset="-122"/>
              </a:rPr>
              <a:t>程序</a:t>
            </a:r>
            <a:endParaRPr lang="en-US" altLang="zh-CN" sz="1400" b="1" dirty="0">
              <a:solidFill>
                <a:sysClr val="windowText" lastClr="000000"/>
              </a:solidFill>
              <a:latin typeface="微软雅黑" pitchFamily="34" charset="-122"/>
              <a:ea typeface="微软雅黑" pitchFamily="34" charset="-122"/>
            </a:endParaRPr>
          </a:p>
          <a:p>
            <a:pPr marL="800100" lvl="1" indent="-342900" defTabSz="914400">
              <a:lnSpc>
                <a:spcPts val="3200"/>
              </a:lnSpc>
              <a:spcAft>
                <a:spcPct val="0"/>
              </a:spcAft>
              <a:buClr>
                <a:srgbClr val="0066CC"/>
              </a:buClr>
              <a:buFont typeface="Wingdings" panose="05000000000000000000" pitchFamily="2" charset="2"/>
              <a:buChar char="l"/>
              <a:defRPr/>
            </a:pPr>
            <a:r>
              <a:rPr lang="zh-CN" altLang="en-US" sz="1400" b="1" dirty="0">
                <a:solidFill>
                  <a:sysClr val="windowText" lastClr="000000"/>
                </a:solidFill>
                <a:latin typeface="微软雅黑" pitchFamily="34" charset="-122"/>
                <a:ea typeface="微软雅黑" pitchFamily="34" charset="-122"/>
              </a:rPr>
              <a:t>读取相应文件，进行数据解析</a:t>
            </a:r>
            <a:endParaRPr lang="en-US" altLang="zh-CN" sz="1400" b="1" dirty="0">
              <a:solidFill>
                <a:sysClr val="windowText" lastClr="000000"/>
              </a:solidFill>
              <a:latin typeface="微软雅黑" pitchFamily="34" charset="-122"/>
              <a:ea typeface="微软雅黑" pitchFamily="34" charset="-122"/>
            </a:endParaRPr>
          </a:p>
          <a:p>
            <a:pPr marL="800100" lvl="1" indent="-342900" defTabSz="914400">
              <a:lnSpc>
                <a:spcPts val="3200"/>
              </a:lnSpc>
              <a:spcAft>
                <a:spcPct val="0"/>
              </a:spcAft>
              <a:buClr>
                <a:srgbClr val="0066CC"/>
              </a:buClr>
              <a:buFont typeface="Wingdings" panose="05000000000000000000" pitchFamily="2" charset="2"/>
              <a:buChar char="l"/>
              <a:defRPr/>
            </a:pPr>
            <a:r>
              <a:rPr lang="zh-CN" altLang="en-US" sz="1400" b="1" dirty="0">
                <a:solidFill>
                  <a:sysClr val="windowText" lastClr="000000"/>
                </a:solidFill>
                <a:latin typeface="微软雅黑" pitchFamily="34" charset="-122"/>
                <a:ea typeface="微软雅黑" pitchFamily="34" charset="-122"/>
              </a:rPr>
              <a:t>封装成一条条的</a:t>
            </a:r>
            <a:r>
              <a:rPr lang="en-US" altLang="zh-CN" sz="1400" b="1" dirty="0">
                <a:solidFill>
                  <a:sysClr val="windowText" lastClr="000000"/>
                </a:solidFill>
                <a:latin typeface="微软雅黑" pitchFamily="34" charset="-122"/>
                <a:ea typeface="微软雅黑" pitchFamily="34" charset="-122"/>
              </a:rPr>
              <a:t>RDF</a:t>
            </a:r>
            <a:r>
              <a:rPr lang="zh-CN" altLang="en-US" sz="1400" b="1" dirty="0">
                <a:solidFill>
                  <a:sysClr val="windowText" lastClr="000000"/>
                </a:solidFill>
                <a:latin typeface="微软雅黑" pitchFamily="34" charset="-122"/>
                <a:ea typeface="微软雅黑" pitchFamily="34" charset="-122"/>
              </a:rPr>
              <a:t>数据</a:t>
            </a:r>
            <a:endParaRPr lang="en-US" altLang="zh-CN" sz="1400" b="1" dirty="0">
              <a:solidFill>
                <a:sysClr val="windowText" lastClr="000000"/>
              </a:solidFill>
              <a:latin typeface="微软雅黑" pitchFamily="34" charset="-122"/>
              <a:ea typeface="微软雅黑" pitchFamily="34" charset="-122"/>
            </a:endParaRPr>
          </a:p>
          <a:p>
            <a:pPr lvl="1" defTabSz="914400">
              <a:lnSpc>
                <a:spcPts val="3200"/>
              </a:lnSpc>
              <a:spcAft>
                <a:spcPct val="0"/>
              </a:spcAft>
              <a:buClr>
                <a:srgbClr val="0066CC"/>
              </a:buClr>
              <a:defRPr/>
            </a:pPr>
            <a:endParaRPr lang="en-US" altLang="zh-CN" sz="1400" b="1" dirty="0">
              <a:solidFill>
                <a:sysClr val="windowText" lastClr="000000"/>
              </a:solidFill>
              <a:latin typeface="微软雅黑" pitchFamily="34" charset="-122"/>
              <a:ea typeface="微软雅黑" pitchFamily="34" charset="-122"/>
            </a:endParaRPr>
          </a:p>
          <a:p>
            <a:pPr marL="800100" lvl="1" indent="-342900" defTabSz="914400">
              <a:lnSpc>
                <a:spcPts val="3200"/>
              </a:lnSpc>
              <a:spcAft>
                <a:spcPct val="0"/>
              </a:spcAft>
              <a:buClr>
                <a:srgbClr val="0066CC"/>
              </a:buClr>
              <a:buFont typeface="Wingdings" panose="05000000000000000000" pitchFamily="2" charset="2"/>
              <a:buChar char="l"/>
              <a:defRPr/>
            </a:pPr>
            <a:endParaRPr lang="en-US" altLang="zh-CN" sz="1400" b="1" dirty="0">
              <a:solidFill>
                <a:sysClr val="windowText" lastClr="000000"/>
              </a:solidFill>
              <a:latin typeface="微软雅黑" pitchFamily="34" charset="-122"/>
              <a:ea typeface="微软雅黑" pitchFamily="34" charset="-122"/>
            </a:endParaRPr>
          </a:p>
          <a:p>
            <a:pPr marL="800100" lvl="1" indent="-342900" defTabSz="914400">
              <a:lnSpc>
                <a:spcPts val="3200"/>
              </a:lnSpc>
              <a:spcAft>
                <a:spcPct val="0"/>
              </a:spcAft>
              <a:buClr>
                <a:srgbClr val="0066CC"/>
              </a:buClr>
              <a:buFont typeface="Wingdings" panose="05000000000000000000" pitchFamily="2" charset="2"/>
              <a:buChar char="l"/>
              <a:defRPr/>
            </a:pPr>
            <a:endParaRPr lang="en-US" altLang="zh-CN" sz="1400" b="1" dirty="0">
              <a:solidFill>
                <a:sysClr val="windowText" lastClr="00000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70241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CC7874-1AF5-5837-0DAB-65C568962B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>
            <a:extLst>
              <a:ext uri="{FF2B5EF4-FFF2-40B4-BE49-F238E27FC236}">
                <a16:creationId xmlns:a16="http://schemas.microsoft.com/office/drawing/2014/main" id="{702BACF1-2966-BA96-A1FF-668661CEE6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实验步骤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3A65263-9F7F-CC67-D5E3-A753342E86D5}"/>
              </a:ext>
            </a:extLst>
          </p:cNvPr>
          <p:cNvSpPr txBox="1"/>
          <p:nvPr/>
        </p:nvSpPr>
        <p:spPr>
          <a:xfrm>
            <a:off x="249020" y="852301"/>
            <a:ext cx="8786553" cy="37257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ts val="3200"/>
              </a:lnSpc>
              <a:spcBef>
                <a:spcPts val="0"/>
              </a:spcBef>
              <a:spcAft>
                <a:spcPct val="0"/>
              </a:spcAft>
              <a:buClr>
                <a:srgbClr val="0066CC"/>
              </a:buClr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lang="en-US" altLang="zh-CN" sz="1400" b="1" dirty="0">
                <a:solidFill>
                  <a:sysClr val="windowText" lastClr="000000"/>
                </a:solidFill>
                <a:latin typeface="微软雅黑" pitchFamily="34" charset="-122"/>
                <a:ea typeface="微软雅黑" pitchFamily="34" charset="-122"/>
              </a:rPr>
              <a:t>3. </a:t>
            </a:r>
            <a:r>
              <a:rPr lang="zh-CN" altLang="en-US" sz="1400" b="1" dirty="0">
                <a:solidFill>
                  <a:sysClr val="windowText" lastClr="000000"/>
                </a:solidFill>
                <a:latin typeface="微软雅黑" pitchFamily="34" charset="-122"/>
                <a:ea typeface="微软雅黑" pitchFamily="34" charset="-122"/>
              </a:rPr>
              <a:t>将生成的</a:t>
            </a:r>
            <a:r>
              <a:rPr lang="en-US" altLang="zh-CN" sz="1400" b="1" dirty="0">
                <a:solidFill>
                  <a:sysClr val="windowText" lastClr="000000"/>
                </a:solidFill>
                <a:latin typeface="微软雅黑" pitchFamily="34" charset="-122"/>
                <a:ea typeface="微软雅黑" pitchFamily="34" charset="-122"/>
              </a:rPr>
              <a:t>RDF</a:t>
            </a:r>
            <a:r>
              <a:rPr lang="zh-CN" altLang="en-US" sz="1400" b="1" dirty="0">
                <a:solidFill>
                  <a:sysClr val="windowText" lastClr="000000"/>
                </a:solidFill>
                <a:latin typeface="微软雅黑" pitchFamily="34" charset="-122"/>
                <a:ea typeface="微软雅黑" pitchFamily="34" charset="-122"/>
              </a:rPr>
              <a:t>数据导入到</a:t>
            </a:r>
            <a:r>
              <a:rPr lang="en-US" altLang="zh-CN" sz="1400" b="1" dirty="0" err="1">
                <a:solidFill>
                  <a:sysClr val="windowText" lastClr="000000"/>
                </a:solidFill>
                <a:latin typeface="微软雅黑" pitchFamily="34" charset="-122"/>
                <a:ea typeface="微软雅黑" pitchFamily="34" charset="-122"/>
              </a:rPr>
              <a:t>gCloud</a:t>
            </a:r>
            <a:r>
              <a:rPr lang="zh-CN" altLang="en-US" sz="1400" b="1" dirty="0">
                <a:solidFill>
                  <a:sysClr val="windowText" lastClr="000000"/>
                </a:solidFill>
                <a:latin typeface="微软雅黑" pitchFamily="34" charset="-122"/>
                <a:ea typeface="微软雅黑" pitchFamily="34" charset="-122"/>
              </a:rPr>
              <a:t>中创建数据库</a:t>
            </a:r>
            <a:endParaRPr lang="en-US" altLang="zh-CN" sz="1400" b="1" dirty="0">
              <a:solidFill>
                <a:sysClr val="windowText" lastClr="000000"/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marR="0" lvl="0" indent="-342900" algn="l" defTabSz="914400" rtl="0" eaLnBrk="1" fontAlgn="auto" latinLnBrk="0" hangingPunct="1">
              <a:lnSpc>
                <a:spcPts val="3200"/>
              </a:lnSpc>
              <a:spcBef>
                <a:spcPts val="0"/>
              </a:spcBef>
              <a:spcAft>
                <a:spcPct val="0"/>
              </a:spcAft>
              <a:buClr>
                <a:srgbClr val="0066CC"/>
              </a:buClr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lang="en-US" altLang="zh-CN" sz="1400" b="1" dirty="0">
                <a:solidFill>
                  <a:sysClr val="windowText" lastClr="000000"/>
                </a:solidFill>
                <a:latin typeface="微软雅黑" pitchFamily="34" charset="-122"/>
                <a:ea typeface="微软雅黑" pitchFamily="34" charset="-122"/>
              </a:rPr>
              <a:t>4. </a:t>
            </a:r>
            <a:r>
              <a:rPr lang="zh-CN" altLang="en-US" sz="1400" b="1" dirty="0">
                <a:solidFill>
                  <a:sysClr val="windowText" lastClr="000000"/>
                </a:solidFill>
                <a:latin typeface="微软雅黑" pitchFamily="34" charset="-122"/>
                <a:ea typeface="微软雅黑" pitchFamily="34" charset="-122"/>
              </a:rPr>
              <a:t>在数据库中编写</a:t>
            </a:r>
            <a:r>
              <a:rPr lang="en-US" altLang="zh-CN" sz="1400" b="1" dirty="0">
                <a:solidFill>
                  <a:sysClr val="windowText" lastClr="000000"/>
                </a:solidFill>
                <a:latin typeface="微软雅黑" pitchFamily="34" charset="-122"/>
                <a:ea typeface="微软雅黑" pitchFamily="34" charset="-122"/>
              </a:rPr>
              <a:t>SPARQL</a:t>
            </a:r>
            <a:r>
              <a:rPr lang="zh-CN" altLang="en-US" sz="1400" b="1" dirty="0">
                <a:solidFill>
                  <a:sysClr val="windowText" lastClr="000000"/>
                </a:solidFill>
                <a:latin typeface="微软雅黑" pitchFamily="34" charset="-122"/>
                <a:ea typeface="微软雅黑" pitchFamily="34" charset="-122"/>
              </a:rPr>
              <a:t>语句完成如下功能</a:t>
            </a:r>
            <a:endParaRPr lang="en-US" altLang="zh-CN" sz="1400" b="1" dirty="0">
              <a:solidFill>
                <a:sysClr val="windowText" lastClr="000000"/>
              </a:solidFill>
              <a:latin typeface="微软雅黑" pitchFamily="34" charset="-122"/>
              <a:ea typeface="微软雅黑" pitchFamily="34" charset="-122"/>
            </a:endParaRPr>
          </a:p>
          <a:p>
            <a:pPr marL="800100" lvl="1" indent="-342900" defTabSz="914400">
              <a:lnSpc>
                <a:spcPts val="3200"/>
              </a:lnSpc>
              <a:spcAft>
                <a:spcPct val="0"/>
              </a:spcAft>
              <a:buClr>
                <a:srgbClr val="0066CC"/>
              </a:buClr>
              <a:buFont typeface="Wingdings" panose="05000000000000000000" pitchFamily="2" charset="2"/>
              <a:buChar char="l"/>
              <a:defRPr/>
            </a:pPr>
            <a:r>
              <a:rPr lang="zh-CN" altLang="en-US" sz="1400" b="1" dirty="0">
                <a:solidFill>
                  <a:sysClr val="windowText" lastClr="000000"/>
                </a:solidFill>
                <a:latin typeface="微软雅黑" pitchFamily="34" charset="-122"/>
                <a:ea typeface="微软雅黑" pitchFamily="34" charset="-122"/>
              </a:rPr>
              <a:t>与万历三大征有关的历史人物有哪些？</a:t>
            </a:r>
            <a:endParaRPr lang="en-US" altLang="zh-CN" sz="1400" b="1" dirty="0">
              <a:solidFill>
                <a:sysClr val="windowText" lastClr="000000"/>
              </a:solidFill>
              <a:latin typeface="微软雅黑" pitchFamily="34" charset="-122"/>
              <a:ea typeface="微软雅黑" pitchFamily="34" charset="-122"/>
            </a:endParaRPr>
          </a:p>
          <a:p>
            <a:pPr marL="800100" lvl="1" indent="-342900" defTabSz="914400">
              <a:lnSpc>
                <a:spcPts val="3200"/>
              </a:lnSpc>
              <a:spcAft>
                <a:spcPct val="0"/>
              </a:spcAft>
              <a:buClr>
                <a:srgbClr val="0066CC"/>
              </a:buClr>
              <a:buFont typeface="Wingdings" panose="05000000000000000000" pitchFamily="2" charset="2"/>
              <a:buChar char="l"/>
              <a:defRPr/>
            </a:pPr>
            <a:r>
              <a:rPr lang="zh-CN" altLang="en-US" sz="1400" b="1" dirty="0">
                <a:solidFill>
                  <a:sysClr val="windowText" lastClr="000000"/>
                </a:solidFill>
                <a:latin typeface="微软雅黑" pitchFamily="34" charset="-122"/>
                <a:ea typeface="微软雅黑" pitchFamily="34" charset="-122"/>
              </a:rPr>
              <a:t>哪些战争跟万历三大征有关？</a:t>
            </a:r>
            <a:endParaRPr lang="en-US" altLang="zh-CN" sz="1400" b="1" dirty="0">
              <a:solidFill>
                <a:sysClr val="windowText" lastClr="000000"/>
              </a:solidFill>
              <a:latin typeface="微软雅黑" pitchFamily="34" charset="-122"/>
              <a:ea typeface="微软雅黑" pitchFamily="34" charset="-122"/>
            </a:endParaRPr>
          </a:p>
          <a:p>
            <a:pPr marL="800100" lvl="1" indent="-342900" defTabSz="914400">
              <a:lnSpc>
                <a:spcPts val="3200"/>
              </a:lnSpc>
              <a:spcAft>
                <a:spcPct val="0"/>
              </a:spcAft>
              <a:buClr>
                <a:srgbClr val="0066CC"/>
              </a:buClr>
              <a:buFont typeface="Wingdings" panose="05000000000000000000" pitchFamily="2" charset="2"/>
              <a:buChar char="l"/>
              <a:defRPr/>
            </a:pPr>
            <a:r>
              <a:rPr lang="zh-CN" altLang="en-US" sz="1400" b="1" dirty="0">
                <a:solidFill>
                  <a:sysClr val="windowText" lastClr="000000"/>
                </a:solidFill>
                <a:latin typeface="微软雅黑" pitchFamily="34" charset="-122"/>
                <a:ea typeface="微软雅黑" pitchFamily="34" charset="-122"/>
              </a:rPr>
              <a:t>哪些人参与过两场及以上的战争？</a:t>
            </a:r>
            <a:endParaRPr lang="en-US" altLang="zh-CN" sz="1400" b="1" dirty="0">
              <a:solidFill>
                <a:sysClr val="windowText" lastClr="000000"/>
              </a:solidFill>
              <a:latin typeface="微软雅黑" pitchFamily="34" charset="-122"/>
              <a:ea typeface="微软雅黑" pitchFamily="34" charset="-122"/>
            </a:endParaRPr>
          </a:p>
          <a:p>
            <a:pPr marL="800100" lvl="1" indent="-342900" defTabSz="914400">
              <a:lnSpc>
                <a:spcPts val="3200"/>
              </a:lnSpc>
              <a:spcAft>
                <a:spcPct val="0"/>
              </a:spcAft>
              <a:buClr>
                <a:srgbClr val="0066CC"/>
              </a:buClr>
              <a:buFont typeface="Wingdings" panose="05000000000000000000" pitchFamily="2" charset="2"/>
              <a:buChar char="l"/>
              <a:defRPr/>
            </a:pPr>
            <a:r>
              <a:rPr lang="zh-CN" altLang="en-US" sz="1400" b="1" dirty="0">
                <a:solidFill>
                  <a:sysClr val="windowText" lastClr="000000"/>
                </a:solidFill>
                <a:latin typeface="微软雅黑" pitchFamily="34" charset="-122"/>
                <a:ea typeface="微软雅黑" pitchFamily="34" charset="-122"/>
              </a:rPr>
              <a:t>朱元璋和陈友谅在</a:t>
            </a:r>
            <a:r>
              <a:rPr lang="en-US" altLang="zh-CN" sz="1400" b="1" dirty="0">
                <a:solidFill>
                  <a:sysClr val="windowText" lastClr="000000"/>
                </a:solidFill>
                <a:latin typeface="微软雅黑" pitchFamily="34" charset="-122"/>
                <a:ea typeface="微软雅黑" pitchFamily="34" charset="-122"/>
              </a:rPr>
              <a:t>5</a:t>
            </a:r>
            <a:r>
              <a:rPr lang="zh-CN" altLang="en-US" sz="1400" b="1" dirty="0">
                <a:solidFill>
                  <a:sysClr val="windowText" lastClr="000000"/>
                </a:solidFill>
                <a:latin typeface="微软雅黑" pitchFamily="34" charset="-122"/>
                <a:ea typeface="微软雅黑" pitchFamily="34" charset="-122"/>
              </a:rPr>
              <a:t>跳内有什么关系？</a:t>
            </a:r>
            <a:endParaRPr lang="en-US" altLang="zh-CN" sz="1400" b="1" dirty="0">
              <a:solidFill>
                <a:sysClr val="windowText" lastClr="000000"/>
              </a:solidFill>
              <a:latin typeface="微软雅黑" pitchFamily="34" charset="-122"/>
              <a:ea typeface="微软雅黑" pitchFamily="34" charset="-122"/>
            </a:endParaRPr>
          </a:p>
          <a:p>
            <a:pPr lvl="1" defTabSz="914400">
              <a:lnSpc>
                <a:spcPts val="3200"/>
              </a:lnSpc>
              <a:spcAft>
                <a:spcPct val="0"/>
              </a:spcAft>
              <a:buClr>
                <a:srgbClr val="0066CC"/>
              </a:buClr>
              <a:defRPr/>
            </a:pPr>
            <a:endParaRPr lang="en-US" altLang="zh-CN" sz="1400" b="1" dirty="0">
              <a:solidFill>
                <a:sysClr val="windowText" lastClr="000000"/>
              </a:solidFill>
              <a:latin typeface="微软雅黑" pitchFamily="34" charset="-122"/>
              <a:ea typeface="微软雅黑" pitchFamily="34" charset="-122"/>
            </a:endParaRPr>
          </a:p>
          <a:p>
            <a:pPr marL="800100" lvl="1" indent="-342900" defTabSz="914400">
              <a:lnSpc>
                <a:spcPts val="3200"/>
              </a:lnSpc>
              <a:spcAft>
                <a:spcPct val="0"/>
              </a:spcAft>
              <a:buClr>
                <a:srgbClr val="0066CC"/>
              </a:buClr>
              <a:buFont typeface="Wingdings" panose="05000000000000000000" pitchFamily="2" charset="2"/>
              <a:buChar char="l"/>
              <a:defRPr/>
            </a:pPr>
            <a:endParaRPr lang="en-US" altLang="zh-CN" sz="1400" b="1" dirty="0">
              <a:solidFill>
                <a:sysClr val="windowText" lastClr="000000"/>
              </a:solidFill>
              <a:latin typeface="微软雅黑" pitchFamily="34" charset="-122"/>
              <a:ea typeface="微软雅黑" pitchFamily="34" charset="-122"/>
            </a:endParaRPr>
          </a:p>
          <a:p>
            <a:pPr marL="800100" lvl="1" indent="-342900" defTabSz="914400">
              <a:lnSpc>
                <a:spcPts val="3200"/>
              </a:lnSpc>
              <a:spcAft>
                <a:spcPct val="0"/>
              </a:spcAft>
              <a:buClr>
                <a:srgbClr val="0066CC"/>
              </a:buClr>
              <a:buFont typeface="Wingdings" panose="05000000000000000000" pitchFamily="2" charset="2"/>
              <a:buChar char="l"/>
              <a:defRPr/>
            </a:pPr>
            <a:endParaRPr lang="en-US" altLang="zh-CN" sz="1400" b="1" dirty="0">
              <a:solidFill>
                <a:sysClr val="windowText" lastClr="00000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461582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4CC2E5-3ED8-F46C-AE01-DC88C9D74E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>
            <a:extLst>
              <a:ext uri="{FF2B5EF4-FFF2-40B4-BE49-F238E27FC236}">
                <a16:creationId xmlns:a16="http://schemas.microsoft.com/office/drawing/2014/main" id="{AF1CE4F9-34A2-1CE2-AAB8-1E933B6145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背景知识</a:t>
            </a:r>
            <a:r>
              <a:rPr lang="en-US" altLang="zh-CN" dirty="0"/>
              <a:t>—Python </a:t>
            </a:r>
            <a:r>
              <a:rPr lang="en-US" altLang="zh-CN" dirty="0" err="1"/>
              <a:t>json</a:t>
            </a:r>
            <a:r>
              <a:rPr lang="zh-CN" altLang="en-US" dirty="0"/>
              <a:t>操作（参考</a:t>
            </a:r>
            <a:r>
              <a:rPr lang="en-US" altLang="zh-CN" dirty="0"/>
              <a:t>test.py</a:t>
            </a:r>
            <a:r>
              <a:rPr lang="zh-CN" altLang="en-US" dirty="0"/>
              <a:t>文件）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8CA7D63-6D0A-CC32-0EB2-8E86AAAA0AEB}"/>
              </a:ext>
            </a:extLst>
          </p:cNvPr>
          <p:cNvSpPr txBox="1"/>
          <p:nvPr/>
        </p:nvSpPr>
        <p:spPr>
          <a:xfrm>
            <a:off x="249020" y="852301"/>
            <a:ext cx="8786553" cy="2494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ts val="3200"/>
              </a:lnSpc>
              <a:spcBef>
                <a:spcPts val="0"/>
              </a:spcBef>
              <a:spcAft>
                <a:spcPct val="0"/>
              </a:spcAft>
              <a:buClr>
                <a:srgbClr val="0066CC"/>
              </a:buClr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lang="zh-CN" altLang="en-US" sz="1400" b="1" dirty="0">
                <a:solidFill>
                  <a:sysClr val="windowText" lastClr="000000"/>
                </a:solidFill>
                <a:latin typeface="微软雅黑" pitchFamily="34" charset="-122"/>
                <a:ea typeface="微软雅黑" pitchFamily="34" charset="-122"/>
              </a:rPr>
              <a:t>读取</a:t>
            </a:r>
            <a:r>
              <a:rPr lang="en-US" altLang="zh-CN" sz="1400" b="1" dirty="0">
                <a:solidFill>
                  <a:sysClr val="windowText" lastClr="000000"/>
                </a:solidFill>
                <a:latin typeface="微软雅黑" pitchFamily="34" charset="-122"/>
                <a:ea typeface="微软雅黑" pitchFamily="34" charset="-122"/>
              </a:rPr>
              <a:t>JSON</a:t>
            </a:r>
            <a:r>
              <a:rPr lang="zh-CN" altLang="en-US" sz="1400" b="1" dirty="0">
                <a:solidFill>
                  <a:sysClr val="windowText" lastClr="000000"/>
                </a:solidFill>
                <a:latin typeface="微软雅黑" pitchFamily="34" charset="-122"/>
                <a:ea typeface="微软雅黑" pitchFamily="34" charset="-122"/>
              </a:rPr>
              <a:t>文件</a:t>
            </a:r>
            <a:endParaRPr lang="en-US" altLang="zh-CN" sz="1400" b="1" dirty="0">
              <a:solidFill>
                <a:sysClr val="windowText" lastClr="000000"/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marR="0" lvl="0" indent="-342900" algn="l" defTabSz="914400" rtl="0" eaLnBrk="1" fontAlgn="auto" latinLnBrk="0" hangingPunct="1">
              <a:lnSpc>
                <a:spcPts val="3200"/>
              </a:lnSpc>
              <a:spcBef>
                <a:spcPts val="0"/>
              </a:spcBef>
              <a:spcAft>
                <a:spcPct val="0"/>
              </a:spcAft>
              <a:buClr>
                <a:srgbClr val="0066CC"/>
              </a:buClr>
              <a:buSzTx/>
              <a:buFont typeface="Wingdings" panose="05000000000000000000" pitchFamily="2" charset="2"/>
              <a:buChar char="l"/>
              <a:tabLst/>
              <a:defRPr/>
            </a:pPr>
            <a:endParaRPr lang="en-US" altLang="zh-CN" sz="1400" b="1" dirty="0">
              <a:solidFill>
                <a:sysClr val="windowText" lastClr="000000"/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marR="0" lvl="0" indent="-342900" algn="l" defTabSz="914400" rtl="0" eaLnBrk="1" fontAlgn="auto" latinLnBrk="0" hangingPunct="1">
              <a:lnSpc>
                <a:spcPts val="3200"/>
              </a:lnSpc>
              <a:spcBef>
                <a:spcPts val="0"/>
              </a:spcBef>
              <a:spcAft>
                <a:spcPct val="0"/>
              </a:spcAft>
              <a:buClr>
                <a:srgbClr val="0066CC"/>
              </a:buClr>
              <a:buSzTx/>
              <a:buFont typeface="Wingdings" panose="05000000000000000000" pitchFamily="2" charset="2"/>
              <a:buChar char="l"/>
              <a:tabLst/>
              <a:defRPr/>
            </a:pPr>
            <a:endParaRPr lang="en-US" altLang="zh-CN" sz="1400" b="1" dirty="0">
              <a:solidFill>
                <a:sysClr val="windowText" lastClr="000000"/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marR="0" lvl="0" indent="-342900" algn="l" defTabSz="914400" rtl="0" eaLnBrk="1" fontAlgn="auto" latinLnBrk="0" hangingPunct="1">
              <a:lnSpc>
                <a:spcPts val="3200"/>
              </a:lnSpc>
              <a:spcBef>
                <a:spcPts val="0"/>
              </a:spcBef>
              <a:spcAft>
                <a:spcPct val="0"/>
              </a:spcAft>
              <a:buClr>
                <a:srgbClr val="0066CC"/>
              </a:buClr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lang="zh-CN" altLang="en-US" sz="1400" b="1" dirty="0">
                <a:solidFill>
                  <a:sysClr val="windowText" lastClr="000000"/>
                </a:solidFill>
                <a:latin typeface="微软雅黑" pitchFamily="34" charset="-122"/>
                <a:ea typeface="微软雅黑" pitchFamily="34" charset="-122"/>
              </a:rPr>
              <a:t>写入文件</a:t>
            </a:r>
            <a:endParaRPr lang="en-US" altLang="zh-CN" sz="1400" b="1" dirty="0">
              <a:solidFill>
                <a:sysClr val="windowText" lastClr="000000"/>
              </a:solidFill>
              <a:latin typeface="微软雅黑" pitchFamily="34" charset="-122"/>
              <a:ea typeface="微软雅黑" pitchFamily="34" charset="-122"/>
            </a:endParaRPr>
          </a:p>
          <a:p>
            <a:pPr marR="0" lvl="0" algn="l" defTabSz="914400" rtl="0" eaLnBrk="1" fontAlgn="auto" latinLnBrk="0" hangingPunct="1">
              <a:lnSpc>
                <a:spcPts val="3200"/>
              </a:lnSpc>
              <a:spcBef>
                <a:spcPts val="0"/>
              </a:spcBef>
              <a:spcAft>
                <a:spcPct val="0"/>
              </a:spcAft>
              <a:buClr>
                <a:srgbClr val="0066CC"/>
              </a:buClr>
              <a:buSzTx/>
              <a:tabLst/>
              <a:defRPr/>
            </a:pPr>
            <a:endParaRPr lang="en-US" altLang="zh-CN" sz="1400" b="1" dirty="0">
              <a:solidFill>
                <a:sysClr val="windowText" lastClr="000000"/>
              </a:solidFill>
              <a:latin typeface="微软雅黑" pitchFamily="34" charset="-122"/>
              <a:ea typeface="微软雅黑" pitchFamily="34" charset="-122"/>
            </a:endParaRPr>
          </a:p>
          <a:p>
            <a:pPr marL="800100" lvl="1" indent="-342900" defTabSz="914400">
              <a:lnSpc>
                <a:spcPts val="3200"/>
              </a:lnSpc>
              <a:spcAft>
                <a:spcPct val="0"/>
              </a:spcAft>
              <a:buClr>
                <a:srgbClr val="0066CC"/>
              </a:buClr>
              <a:buFont typeface="Wingdings" panose="05000000000000000000" pitchFamily="2" charset="2"/>
              <a:buChar char="l"/>
              <a:defRPr/>
            </a:pPr>
            <a:endParaRPr lang="en-US" altLang="zh-CN" sz="1400" b="1" dirty="0">
              <a:solidFill>
                <a:sysClr val="windowText" lastClr="00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EBC1289-8F6F-1CEE-AED5-B5967DE082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313068"/>
            <a:ext cx="9179684" cy="784830"/>
          </a:xfrm>
          <a:prstGeom prst="rect">
            <a:avLst/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Arial Unicode MS"/>
                <a:ea typeface="JetBrains Mono"/>
              </a:rPr>
              <a:t>## 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读取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Arial Unicode MS"/>
                <a:ea typeface="JetBrains Mono"/>
              </a:rPr>
              <a:t>json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文件</a:t>
            </a:r>
            <a:b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</a:b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/>
                <a:ea typeface="JetBrains Mono"/>
              </a:rPr>
              <a:t>def 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56A8F5"/>
                </a:solidFill>
                <a:effectLst/>
                <a:latin typeface="Arial Unicode MS"/>
                <a:ea typeface="JetBrains Mono"/>
              </a:rPr>
              <a:t>readjsonfile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(filename):</a:t>
            </a:r>
            <a:b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    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/>
                <a:ea typeface="JetBrains Mono"/>
              </a:rPr>
              <a:t>with 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Arial Unicode MS"/>
                <a:ea typeface="JetBrains Mono"/>
              </a:rPr>
              <a:t>open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(filename,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/>
                <a:ea typeface="JetBrains Mono"/>
              </a:rPr>
              <a:t>'r'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,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AA4926"/>
                </a:solidFill>
                <a:effectLst/>
                <a:latin typeface="Arial Unicode MS"/>
                <a:ea typeface="JetBrains Mono"/>
              </a:rPr>
              <a:t>encoding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=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/>
                <a:ea typeface="JetBrains Mono"/>
              </a:rPr>
              <a:t>"utf-8"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) 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/>
                <a:ea typeface="JetBrains Mono"/>
              </a:rPr>
              <a:t>as 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f:</a:t>
            </a:r>
            <a:b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        jsonobj=json.load(f) 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Arial Unicode MS"/>
                <a:ea typeface="JetBrains Mono"/>
              </a:rPr>
              <a:t>##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从文件中读取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Arial Unicode MS"/>
                <a:ea typeface="JetBrains Mono"/>
              </a:rPr>
              <a:t>json</a:t>
            </a:r>
            <a:b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Arial Unicode MS"/>
                <a:ea typeface="JetBrains Mono"/>
              </a:rPr>
              <a:t>        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Arial Unicode MS"/>
                <a:ea typeface="JetBrains Mono"/>
              </a:rPr>
              <a:t>print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(json.dumps(jsonobj,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AA4926"/>
                </a:solidFill>
                <a:effectLst/>
                <a:latin typeface="Arial Unicode MS"/>
                <a:ea typeface="JetBrains Mono"/>
              </a:rPr>
              <a:t>ensure_ascii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=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/>
                <a:ea typeface="JetBrains Mono"/>
              </a:rPr>
              <a:t>False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,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AA4926"/>
                </a:solidFill>
                <a:effectLst/>
                <a:latin typeface="Arial Unicode MS"/>
                <a:ea typeface="JetBrains Mono"/>
              </a:rPr>
              <a:t>indent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=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Arial Unicode MS"/>
                <a:ea typeface="JetBrains Mono"/>
              </a:rPr>
              <a:t>4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)) 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Arial Unicode MS"/>
                <a:ea typeface="JetBrains Mono"/>
              </a:rPr>
              <a:t>##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格式化输出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Arial Unicode MS"/>
                <a:ea typeface="JetBrains Mono"/>
              </a:rPr>
              <a:t>json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对象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C50863B-8620-4FDE-46DA-2F2097CB5B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546457"/>
            <a:ext cx="9179684" cy="923330"/>
          </a:xfrm>
          <a:prstGeom prst="rect">
            <a:avLst/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Arial Unicode MS"/>
                <a:ea typeface="JetBrains Mono"/>
              </a:rPr>
              <a:t>## 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写入文件</a:t>
            </a:r>
            <a:b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</a:b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/>
                <a:ea typeface="JetBrains Mono"/>
              </a:rPr>
              <a:t>def 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56A8F5"/>
                </a:solidFill>
                <a:effectLst/>
                <a:latin typeface="Arial Unicode MS"/>
                <a:ea typeface="JetBrains Mono"/>
              </a:rPr>
              <a:t>writefile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(filename):</a:t>
            </a:r>
            <a:b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    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/>
                <a:ea typeface="JetBrains Mono"/>
              </a:rPr>
              <a:t>with 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Arial Unicode MS"/>
                <a:ea typeface="JetBrains Mono"/>
              </a:rPr>
              <a:t>open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(filename,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/>
                <a:ea typeface="JetBrains Mono"/>
              </a:rPr>
              <a:t>'w'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,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AA4926"/>
                </a:solidFill>
                <a:effectLst/>
                <a:latin typeface="Arial Unicode MS"/>
                <a:ea typeface="JetBrains Mono"/>
              </a:rPr>
              <a:t>encoding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=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/>
                <a:ea typeface="JetBrains Mono"/>
              </a:rPr>
              <a:t>"utf-8"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) 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/>
                <a:ea typeface="JetBrains Mono"/>
              </a:rPr>
              <a:t>as 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f:</a:t>
            </a:r>
            <a:b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        f.write(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/>
                <a:ea typeface="JetBrains Mono"/>
              </a:rPr>
              <a:t>"hello world"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) 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Arial Unicode MS"/>
                <a:ea typeface="JetBrains Mono"/>
              </a:rPr>
              <a:t>##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字符串写入</a:t>
            </a:r>
            <a:b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</a:b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        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lines=[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/>
                <a:ea typeface="JetBrains Mono"/>
              </a:rPr>
              <a:t>"hello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/>
                <a:ea typeface="JetBrains Mono"/>
              </a:rPr>
              <a:t>\n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/>
                <a:ea typeface="JetBrains Mono"/>
              </a:rPr>
              <a:t>"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,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/>
                <a:ea typeface="JetBrains Mono"/>
              </a:rPr>
              <a:t>"world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/>
                <a:ea typeface="JetBrains Mono"/>
              </a:rPr>
              <a:t>\n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/>
                <a:ea typeface="JetBrains Mono"/>
              </a:rPr>
              <a:t>"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]</a:t>
            </a:r>
            <a:b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        f.writelines(lines) 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Arial Unicode MS"/>
                <a:ea typeface="JetBrains Mono"/>
              </a:rPr>
              <a:t>##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批量写入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49020" y="3781230"/>
            <a:ext cx="671613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平台地址</a:t>
            </a:r>
            <a:r>
              <a:rPr lang="en-US" altLang="zh-CN" dirty="0"/>
              <a:t>: http://portal.gstore.cn/index.html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en-US" altLang="zh-CN" dirty="0" smtClean="0"/>
              <a:t>SPARQL</a:t>
            </a:r>
            <a:r>
              <a:rPr lang="zh-CN" altLang="en-US" dirty="0" smtClean="0"/>
              <a:t>语法</a:t>
            </a:r>
            <a:r>
              <a:rPr lang="en-US" altLang="zh-CN" dirty="0" smtClean="0"/>
              <a:t>: </a:t>
            </a:r>
          </a:p>
          <a:p>
            <a:r>
              <a:rPr lang="en-US" altLang="zh-CN" dirty="0" smtClean="0"/>
              <a:t>https</a:t>
            </a:r>
            <a:r>
              <a:rPr lang="en-US" altLang="zh-CN" dirty="0"/>
              <a:t>://www.gstore.cn/#/documentation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415964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1cce4e22-a8f3-44d9-b91c-423eafb9e750"/>
  <p:tag name="COMMONDATA" val="eyJoZGlkIjoiN2IxOWViNzU2NjIzOWFlM2NhZmJjOTA0NmVmYWI4ODE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UNIT_PLACING_PICTURE_USER_VIEWPORT" val="{&quot;height&quot;:1216,&quot;width&quot;:1208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UNIT_PLACING_PICTURE_USER_VIEWPORT" val="{&quot;height&quot;:2408,&quot;width&quot;:2523}"/>
</p:tagLst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3472</TotalTime>
  <Words>417</Words>
  <Application>Microsoft Office PowerPoint</Application>
  <PresentationFormat>全屏显示(16:9)</PresentationFormat>
  <Paragraphs>55</Paragraphs>
  <Slides>6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20" baseType="lpstr">
      <vt:lpstr>Apple Chancery</vt:lpstr>
      <vt:lpstr>Arial Unicode MS</vt:lpstr>
      <vt:lpstr>JetBrains Mono</vt:lpstr>
      <vt:lpstr>PingFang SC</vt:lpstr>
      <vt:lpstr>报隶-简</vt:lpstr>
      <vt:lpstr>等线</vt:lpstr>
      <vt:lpstr>等线 Light</vt:lpstr>
      <vt:lpstr>微软雅黑</vt:lpstr>
      <vt:lpstr>Arial</vt:lpstr>
      <vt:lpstr>Calibri</vt:lpstr>
      <vt:lpstr>Calibri Light</vt:lpstr>
      <vt:lpstr>Courier New</vt:lpstr>
      <vt:lpstr>Wingdings</vt:lpstr>
      <vt:lpstr>Office 主题​​</vt:lpstr>
      <vt:lpstr>PowerPoint 演示文稿</vt:lpstr>
      <vt:lpstr>实验简介</vt:lpstr>
      <vt:lpstr>实验数据：明朝历史数据集</vt:lpstr>
      <vt:lpstr>实验步骤</vt:lpstr>
      <vt:lpstr>实验步骤</vt:lpstr>
      <vt:lpstr>背景知识—Python json操作（参考test.py文件）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Happy</dc:creator>
  <cp:lastModifiedBy>DYSF</cp:lastModifiedBy>
  <cp:revision>789</cp:revision>
  <cp:lastPrinted>2020-02-29T17:25:00Z</cp:lastPrinted>
  <dcterms:created xsi:type="dcterms:W3CDTF">2020-02-29T17:25:00Z</dcterms:created>
  <dcterms:modified xsi:type="dcterms:W3CDTF">2025-12-04T11:22:56Z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2052-11.1.0.14309</vt:lpwstr>
  </property>
  <property fmtid="{D5CDD505-2E9C-101B-9397-08002B2CF9AE}" pid="3" name="ICV">
    <vt:lpwstr>52DE04DB90ED41D4A33539BA8304AAD6_12</vt:lpwstr>
  </property>
</Properties>
</file>